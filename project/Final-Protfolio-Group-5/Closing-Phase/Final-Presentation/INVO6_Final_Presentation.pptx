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3" r:id="rId13"/>
    <p:sldId id="268" r:id="rId14"/>
    <p:sldId id="265" r:id="rId15"/>
    <p:sldId id="266" r:id="rId16"/>
    <p:sldId id="267" r:id="rId17"/>
    <p:sldId id="269" r:id="rId18"/>
    <p:sldId id="276" r:id="rId19"/>
    <p:sldId id="272" r:id="rId20"/>
    <p:sldId id="274" r:id="rId21"/>
    <p:sldId id="279" r:id="rId22"/>
    <p:sldId id="280" r:id="rId23"/>
    <p:sldId id="28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52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4936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370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9197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843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2110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733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9592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651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17326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4972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113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98448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59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77359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54843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56788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9570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205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8624D31-43A5-475A-80CF-332C9F6DCF3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34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 bwMode="ltGray"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96744" y="1838768"/>
            <a:ext cx="2194560" cy="91440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55161" y="424476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136" y="447323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kern="0" spc="600" dirty="0">
                <a:latin typeface="Bahnschrift Condensed" panose="020B0502040204020203" pitchFamily="34" charset="0"/>
                <a:ea typeface="Calibri" pitchFamily="34" charset="-122"/>
                <a:cs typeface="Calibri" pitchFamily="34" charset="-120"/>
              </a:rPr>
              <a:t>Invoice-six</a:t>
            </a:r>
            <a:endParaRPr lang="en-US" sz="6800" dirty="0">
              <a:latin typeface="Bahnschrift Condense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1032" y="3020283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Retail &amp; Strategic Inventory 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3660363"/>
            <a:ext cx="3657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1032" y="39677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Artificial Intelligence — Level 5  |  Group Project  |  Group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878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British College  |  University of west of England</a:t>
            </a:r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818" y="818570"/>
            <a:ext cx="2798411" cy="2798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 Behind INVO6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" y="141732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" y="141732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Maharjan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Finisher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679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24036543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41732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Simona Kattel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Lead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2679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24030159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6208" y="141732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Aayushma Dhakal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0" y="2423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2679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24030146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1168" y="31089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310896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 Sitaula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Engineer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Investigator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370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23085179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18688" y="31089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310896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Bardan Thapa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4370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23085198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36208" y="31089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36208" y="3108960"/>
            <a:ext cx="45720" cy="15087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3246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Pradip Yadav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3566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Lead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400800" y="43708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24036544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01168" y="4681728"/>
            <a:ext cx="8741664" cy="347472"/>
          </a:xfrm>
          <a:prstGeom prst="rect">
            <a:avLst/>
          </a:prstGeom>
          <a:solidFill>
            <a:srgbClr val="F0ECE4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-150015" y="4670066"/>
            <a:ext cx="8741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Module: Group Project — Level 5     |     Intake: September 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727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0976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" y="20299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barcode scanning with real-time ESP32 + MQTT pipeline eliminating manual entry errors.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7276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04488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Intelligence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29000" y="20299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tracking with low-stock alerts and demand-driven restocking suggestions.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199632" y="137160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57276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382512" y="202996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regression models trained on historical data with RMSE target below 15%.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92608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6440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0976" y="3264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(RAG)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5488" y="372160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assistant for shopkeepers and customers via semantic embeddings &amp; LLM API.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246120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6440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04488" y="3264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429000" y="372160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with WebSocket updates — sales trends, inventory and revenue insights.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199632" y="306324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6440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32644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382512" y="372160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bcrypt hashing, Email OTP 2FA, and role-based access control across all roles.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868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Maharjan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737360"/>
            <a:ext cx="23774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&amp;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Admin-facing system has inventory, analytics, reporting, user management, and backend APIs.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CAPABILITIES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832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&amp; Management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078992"/>
            <a:ext cx="18288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261872"/>
            <a:ext cx="2043485" cy="8783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261872"/>
            <a:ext cx="45719" cy="87835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47872" y="1353311"/>
            <a:ext cx="1923280" cy="299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1645919"/>
            <a:ext cx="1923280" cy="379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on products add, edit, delete, categorize stock with real-time level visibility.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176272"/>
            <a:ext cx="2043485" cy="8783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2176272"/>
            <a:ext cx="45719" cy="87835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47872" y="2267711"/>
            <a:ext cx="1923280" cy="299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47872" y="2560319"/>
            <a:ext cx="1923280" cy="379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charts, revenue summaries, top-selling products, and peak hour analysis via dashboard.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3090672"/>
            <a:ext cx="2043485" cy="8783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83280" y="3090672"/>
            <a:ext cx="45719" cy="87835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3182111"/>
            <a:ext cx="1923280" cy="299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Role Management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47872" y="3474719"/>
            <a:ext cx="1923280" cy="379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cashier accounts with role-based access control ensuring operational separation.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4005072"/>
            <a:ext cx="2043485" cy="87835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4005072"/>
            <a:ext cx="45719" cy="87835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47872" y="4096511"/>
            <a:ext cx="1923280" cy="2994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Transactions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47872" y="4389119"/>
            <a:ext cx="1923280" cy="379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transaction records, generate invoices, and oversee billing integrity across sessions.</a:t>
            </a:r>
            <a:endParaRPr lang="en-US" sz="9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152" y="1671774"/>
            <a:ext cx="2963857" cy="26716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Admin System is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async REST API framework. Chosen for speed, automatic OpenAPI docs, and native Python AI integration.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1947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965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indexed tables for Users, Products, Transactions, Inventory, and Audit Logs ensuring ACID compliance.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651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871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OTP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tokens with bcrypt password hashing and Email OTP two-factor authentication for shopkeeper logins.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651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19472" y="2871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dashboard updates to admin clients without polling — instant inventory and transaction visibility.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840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web dashboard with Tailwind styling, chart visualizations, and responsive admin UI.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840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19472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4343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 for sales forecasting trained on historical transactions, targeting sub-15% RMSE error.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1792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868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Aayushma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23774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 &amp;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0" y="24688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Cashier does billing workflow, IoT scanner integration, database schema, and mobile-backend communication.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CAPABILITIES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&amp; IoT Integration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18288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2331057" cy="997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261872"/>
            <a:ext cx="45719" cy="997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1353311"/>
            <a:ext cx="2193936" cy="340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 Workflow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" y="1645920"/>
            <a:ext cx="2193936" cy="43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barcode scanner captures product codes and publishes via MQTT to backend — instant billing trigger.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76272"/>
            <a:ext cx="2331057" cy="997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176272"/>
            <a:ext cx="45719" cy="997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267711"/>
            <a:ext cx="2193936" cy="340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Update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2560320"/>
            <a:ext cx="2193936" cy="43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successful scan deducts stock automatically, keeping inventory synchronized across the system.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2331057" cy="997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090672"/>
            <a:ext cx="45719" cy="997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182111"/>
            <a:ext cx="2193936" cy="340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3474720"/>
            <a:ext cx="2193936" cy="43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receipt creation per transaction with product details, quantities, prices, and timestamps.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005072"/>
            <a:ext cx="2331057" cy="997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005072"/>
            <a:ext cx="45719" cy="99762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0352" y="4096511"/>
            <a:ext cx="2193936" cy="340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Lookup &amp; Handling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" y="4389120"/>
            <a:ext cx="2193936" cy="430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can search, add, and verify products manually when the scanner workflow requires override.</a:t>
            </a:r>
            <a:endParaRPr lang="en-US" sz="9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57" y="1813366"/>
            <a:ext cx="3081743" cy="24635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— 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Billing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3716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FAFAF7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737360"/>
            <a:ext cx="36576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84832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417320"/>
            <a:ext cx="137160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FAFAF7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1737360"/>
            <a:ext cx="36576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22192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1417320"/>
            <a:ext cx="137160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FAFAF7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303520" y="1737360"/>
            <a:ext cx="36576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59552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1371600" cy="822960"/>
          </a:xfrm>
          <a:prstGeom prst="rect">
            <a:avLst/>
          </a:prstGeom>
          <a:solidFill>
            <a:srgbClr val="C9A84C"/>
          </a:solidFill>
          <a:ln w="12700">
            <a:solidFill>
              <a:srgbClr val="FAFAF7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040880" y="1737360"/>
            <a:ext cx="36576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96912" y="166420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06640" y="1417320"/>
            <a:ext cx="1371600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FAFAF7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06640" y="1417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4231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496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HARDWARE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0352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Barcode Scanner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" y="2898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 reads 1D/QR barcodes and sends data over Wi-Fi — cost-effective hardware at ~NPR 5,500 total.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754880" y="24231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2496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19472" y="2679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19472" y="2898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publish-subscribe protocol ideal for IoT. Delivers scan events reliably with minimal network overhead.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365760" y="33375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" y="3410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0352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MQTT Subscriber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0352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subscribes to MQTT topics and processes each scan event — updating billing session and inventory in real-time.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754880" y="33375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3410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919472" y="3593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Schema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19472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Transactions, TransactionItems, Inventory tables maintain consistency with foreign key constraints and indexed queries.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65760" y="42519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0352" y="4325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30352" y="4507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Device ID + TLS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0352" y="4727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ESP32 device has a dedicated MQTT username/password with a static device ID embedded in every payload.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754880" y="4251960"/>
            <a:ext cx="4160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19472" y="4325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19472" y="45079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Cashier View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19472" y="47274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cashier interface displays live scan results, current bill, and allows manual product additions.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868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Bardan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Thapa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737360"/>
            <a:ext cx="23774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&amp;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24688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D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customer-facing mobile experience has  AI chatbot, offers and deals , analytics , purchase history, and QA.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CAPABILITIES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83280" y="502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Mobile Experience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83280" y="1078992"/>
            <a:ext cx="18288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261871"/>
            <a:ext cx="2136250" cy="107713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261871"/>
            <a:ext cx="45719" cy="107713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08942" y="1255391"/>
            <a:ext cx="2010588" cy="367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47872" y="1645919"/>
            <a:ext cx="2010588" cy="465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register and authenticate on the mobile app with secure credentials and purchase history access.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83280" y="2176271"/>
            <a:ext cx="2136250" cy="107713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83280" y="2176271"/>
            <a:ext cx="45719" cy="107713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47872" y="2267712"/>
            <a:ext cx="2010588" cy="367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History &amp; Receipts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47872" y="2560319"/>
            <a:ext cx="2010588" cy="465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receipts and full purchase history visible per session — replacing paper-based records.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3090671"/>
            <a:ext cx="2136250" cy="107713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83280" y="3090671"/>
            <a:ext cx="45719" cy="107713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47872" y="3182112"/>
            <a:ext cx="2010588" cy="367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Analytics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547872" y="3474719"/>
            <a:ext cx="2010588" cy="465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spending summaries and category breakdowns give customers insight into their buying habits.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4005071"/>
            <a:ext cx="2136250" cy="1077137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83280" y="4005071"/>
            <a:ext cx="45719" cy="107713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47872" y="4096512"/>
            <a:ext cx="2010588" cy="367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(RAG Chatbot)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47872" y="4389119"/>
            <a:ext cx="2010588" cy="465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chatbot answers queries about products, store info, and recommendations using LLM + embeddings.</a:t>
            </a:r>
            <a:endParaRPr lang="en-US" sz="9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04" y="1859255"/>
            <a:ext cx="3358936" cy="2145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— TECHNOLOGY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AI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FRONTEND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(iOS &amp; Android) sharing a unified codebase — consistent UX with native performance.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4630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19472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9659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log in with hashed credentials and receive a JWT token for session management across mobile requests.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651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0352" y="2871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chatbot converts store data into vector embeddings (FAISS) for semantic search.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6517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19472" y="28712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sentence embedding models encode product descriptions and FAQs into vector space for context retrieval.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840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Endpoints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communicates via REST to the FastAPI backend for auth, purchase history, analytics, and chatbot queries.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1605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8404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MICROSERVICE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19472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FAISS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4343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Python microservice handles all AI tasks (forecasting, RAG, embeddings) isolated from core backend.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Building INVO6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Initiation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 Approval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48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proposed "Enterprise Retail &amp; Strategic Inventory System" — approved by The British College.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578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Risk Register</a:t>
            </a:r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identified: Hardware failure, data security, schedule overrun, integration issues — all with mitigation plans.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31012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401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team norms, communication protocols, conflict resolution, and contribution expectations.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45720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315703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Project Charter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425961"/>
            <a:ext cx="7863840" cy="511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Defined scope, objectives, roles, budget (~NPR 6,000 hardware), and 12-week delivery timeline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Audit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mapped technical skills — identifying strengths and gaps to allocate responsibilities optimally.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Belbin Team Analysis</a:t>
            </a:r>
            <a:endParaRPr lang="en-US" sz="1200" b="1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mapped: Coordinator · Plant · Shaper · Specialist · Resource Investigator · Complete Finisher.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8412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Catalogue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functional requirements across 8 categories: Inventory · Billing · AI · IoT · Auth · Customer · Admin · Non-functional.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5720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Jira— Sprint Tracking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03120" y="4572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03120" y="45720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— Task Boards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0" y="4572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40480" y="45720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— Team Communication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577840" y="4572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45720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 Control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15200" y="4572000"/>
            <a:ext cx="1554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0" y="457200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UI Design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417" y="168965"/>
            <a:ext cx="37768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Initiation and Planning phase</a:t>
            </a:r>
          </a:p>
          <a:p>
            <a:pPr marL="0" indent="0" algn="l">
              <a:buNone/>
            </a:pPr>
            <a:endParaRPr lang="en-US" sz="8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67" y="484632"/>
            <a:ext cx="2758436" cy="235548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479" y="484632"/>
            <a:ext cx="2904437" cy="235548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8" y="3092074"/>
            <a:ext cx="4325767" cy="1886503"/>
          </a:xfrm>
          <a:prstGeom prst="rect">
            <a:avLst/>
          </a:prstGeom>
        </p:spPr>
      </p:pic>
      <p:pic>
        <p:nvPicPr>
          <p:cNvPr id="28" name="officeArt object" descr="Picture 1"/>
          <p:cNvPicPr/>
          <p:nvPr/>
        </p:nvPicPr>
        <p:blipFill>
          <a:blip r:embed="rId6"/>
          <a:stretch>
            <a:fillRect/>
          </a:stretch>
        </p:blipFill>
        <p:spPr>
          <a:xfrm>
            <a:off x="4555435" y="3092074"/>
            <a:ext cx="4230756" cy="1886503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5933" y="837890"/>
            <a:ext cx="2871805" cy="16489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PHASE DIAGRAMS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&amp; Requirement catalogue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Wireframes (Figma)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· Cashier Billing · Customer Mobile — designed in Figma before development.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Wireframes Here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436205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/>
              <a:t>Requirement catalogue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700983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non-functional requirements across 8 categories: Product &amp; Inventory Management, Customer Features, Admin Features, Billing , IoT Integration, Authentication &amp; Security, and Store Administration.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Use Case Diagram Here ]</a:t>
            </a:r>
            <a:endParaRPr lang="en-US" sz="11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76273"/>
            <a:ext cx="3749040" cy="149879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05200"/>
            <a:ext cx="3749040" cy="109106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1" y="2195356"/>
            <a:ext cx="3734292" cy="240407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294" y="2185814"/>
            <a:ext cx="3734292" cy="24040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monolithic architecture — FastAPI central layer connecting IoT, Web, Mobile, AI, and Database services.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6949440" cy="315468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69494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System Architecture Diagram Here ]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55065"/>
            <a:ext cx="6949440" cy="31912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 (ERD)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tables: Users · Products · Transactions · TransactionItems · Inventory · AuditLogs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ERD Here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ERD (EERD)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and specialization layers showing role-based user subtypes and product hierarchy.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EERD Here ]</a:t>
            </a:r>
            <a:endParaRPr lang="en-US" sz="11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40" y="2130552"/>
            <a:ext cx="3749040" cy="255827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2159999"/>
            <a:ext cx="3749040" cy="24993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7809" y="1389888"/>
            <a:ext cx="814081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449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Diagram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3673" y="17073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decomposition of INVO6 into Admin, Cashier, Customer, AI, and IoT sub-systems.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35426" y="2126598"/>
            <a:ext cx="5155096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20" y="2126598"/>
            <a:ext cx="6433929" cy="26375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&amp; GitHub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19" y="1220724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INVO6 Logo &amp; Brand Identity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logo design representing the enterprise retail identity of INVO6.</a:t>
            </a:r>
            <a:endParaRPr lang="en-US" sz="85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37760" y="13898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GitHub Repo</a:t>
            </a:r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GitHub for version Control</a:t>
            </a:r>
          </a:p>
        </p:txBody>
      </p:sp>
      <p:sp>
        <p:nvSpPr>
          <p:cNvPr id="13" name="Shape 11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176272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24" y="950976"/>
            <a:ext cx="3452191" cy="349757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36" y="2176272"/>
            <a:ext cx="3334777" cy="33347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130ADD-93B8-9D23-EF19-BF9DD38A2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295495"/>
            <a:ext cx="3781682" cy="21847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EVALUATION DOCUMENTATION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Guidelines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02866" y="1401019"/>
            <a:ext cx="4003482" cy="3293811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Installation Guide / Docker Setup Screenshot Here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01818" y="1401019"/>
            <a:ext cx="4084982" cy="3293812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719072"/>
            <a:ext cx="37947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Final Project Report Cover / Contents Page Here ]</a:t>
            </a:r>
            <a:endParaRPr lang="en-US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65" y="1419904"/>
            <a:ext cx="4007857" cy="32749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130" y="1376647"/>
            <a:ext cx="4224971" cy="32433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800" dirty="0"/>
          </a:p>
        </p:txBody>
      </p:sp>
      <p:sp>
        <p:nvSpPr>
          <p:cNvPr id="38" name="Text 9"/>
          <p:cNvSpPr/>
          <p:nvPr/>
        </p:nvSpPr>
        <p:spPr>
          <a:xfrm>
            <a:off x="438647" y="4846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39" name="Text 10"/>
          <p:cNvSpPr/>
          <p:nvPr/>
        </p:nvSpPr>
        <p:spPr>
          <a:xfrm>
            <a:off x="438647" y="83210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and performance test cases.</a:t>
            </a:r>
            <a:endParaRPr lang="en-US" sz="850" dirty="0"/>
          </a:p>
        </p:txBody>
      </p:sp>
      <p:sp>
        <p:nvSpPr>
          <p:cNvPr id="40" name="Shape 11"/>
          <p:cNvSpPr/>
          <p:nvPr/>
        </p:nvSpPr>
        <p:spPr>
          <a:xfrm>
            <a:off x="392926" y="1271015"/>
            <a:ext cx="8313751" cy="3526271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2"/>
          <p:cNvSpPr/>
          <p:nvPr/>
        </p:nvSpPr>
        <p:spPr>
          <a:xfrm>
            <a:off x="392927" y="1271016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86" y="1271016"/>
            <a:ext cx="8324491" cy="35262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DOCUMENTATION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530626"/>
            <a:ext cx="8046720" cy="306324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SRS Document Screenshot Here ]</a:t>
            </a:r>
            <a:endParaRPr lang="en-US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6901"/>
            <a:ext cx="8046720" cy="30669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8892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43566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889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13104" y="208159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0140" y="1678686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697480"/>
            <a:ext cx="2514600" cy="1504188"/>
          </a:xfrm>
          <a:prstGeom prst="rect">
            <a:avLst/>
          </a:prstGeom>
          <a:solidFill>
            <a:srgbClr val="162040"/>
          </a:solidFill>
          <a:ln w="1016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Admin Dashboard Screenshot 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1344168"/>
            <a:ext cx="278892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43566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7889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0" y="2065401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172745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3280" y="2697480"/>
            <a:ext cx="2514600" cy="1504188"/>
          </a:xfrm>
          <a:prstGeom prst="rect">
            <a:avLst/>
          </a:prstGeom>
          <a:solidFill>
            <a:srgbClr val="162040"/>
          </a:solidFill>
          <a:ln w="1016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280" y="269748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Cashier Billing Screenshot 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2788920" cy="3566160"/>
          </a:xfrm>
          <a:prstGeom prst="rect">
            <a:avLst/>
          </a:prstGeom>
          <a:solidFill>
            <a:srgbClr val="1E2F55"/>
          </a:solidFill>
          <a:ln w="12700">
            <a:solidFill>
              <a:srgbClr val="243566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325880"/>
            <a:ext cx="27889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5368" y="2065401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79336" y="17495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2697480"/>
            <a:ext cx="2514600" cy="1610360"/>
          </a:xfrm>
          <a:prstGeom prst="rect">
            <a:avLst/>
          </a:prstGeom>
          <a:solidFill>
            <a:srgbClr val="162040"/>
          </a:solidFill>
          <a:ln w="1016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697480"/>
            <a:ext cx="2514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Customer Mobile App Screenshot 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9560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18054"/>
            <a:ext cx="2514600" cy="1504188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760" y="2697480"/>
            <a:ext cx="2484120" cy="150418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699766"/>
            <a:ext cx="2514600" cy="16080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"So… is this the end of INVO6?"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This is only the beginning.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46304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cloud hosting with high availability and load balancing.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Automation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ML integration buying api for dynamic pricing, demand prediction.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33172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Voice-controlled inventory and billing queries for hands-free operation.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24612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Support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 for retail chains with branch-level analytics.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46120" y="324612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IoT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749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shelf sensors,  theft detection.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324612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3246120"/>
            <a:ext cx="45720" cy="1234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3383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Enhancements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74904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notifications, product browsing , and personalized product recommendations.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596640" y="1716906"/>
            <a:ext cx="2194560" cy="822960"/>
          </a:xfrm>
          <a:prstGeom prst="rect">
            <a:avLst/>
          </a:prstGeom>
          <a:solidFill>
            <a:srgbClr val="F0ECE4"/>
          </a:solidFill>
          <a:ln w="12700">
            <a:solidFill>
              <a:srgbClr val="C9A84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0" y="411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3243" y="35890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2865120" y="2769489"/>
            <a:ext cx="3657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9120" y="29626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INVO6 — Enterprise Retail &amp; Strategic Inventory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7361" y="345871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|  BSc (Hons) Artificial Intelligence — Level 5  |  The British College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38313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Maharjan  ·  Simona Kattel  ·  Aayushma Dhakal  ·  Abhinav Sitaula  ·  Bardan Thapa  ·  Pradip Yadav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977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837772"/>
            <a:ext cx="2506646" cy="2506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779</TotalTime>
  <Words>1621</Words>
  <Application>Microsoft Office PowerPoint</Application>
  <PresentationFormat>On-screen Show (16:9)</PresentationFormat>
  <Paragraphs>292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Bahnschrift Condensed</vt:lpstr>
      <vt:lpstr>Calibri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Sachin Mhrz</cp:lastModifiedBy>
  <cp:revision>22</cp:revision>
  <dcterms:created xsi:type="dcterms:W3CDTF">2026-05-09T12:33:57Z</dcterms:created>
  <dcterms:modified xsi:type="dcterms:W3CDTF">2026-05-12T13:55:21Z</dcterms:modified>
</cp:coreProperties>
</file>